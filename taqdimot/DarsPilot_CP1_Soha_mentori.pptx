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6767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6767E"/>
                </a:solidFill>
                <a:latin typeface="Calibri"/>
              </a:rPr>
              <a:t>Bosqichlar bo'yicha to'g'ri javob,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To'g'ri javob, %</c:v>
                </c:pt>
              </c:strCache>
            </c:strRef>
          </c:tx>
          <c:spPr>
            <a:solidFill>
              <a:srgbClr val="0A8A9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3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Aniqlash</c:v>
                  </c:pt>
                  <c:pt idx="1">
                    <c:v>Ma'lumot</c:v>
                  </c:pt>
                  <c:pt idx="2">
                    <c:v>Model</c:v>
                  </c:pt>
                  <c:pt idx="3">
                    <c:v>Oraliq hisob</c:v>
                  </c:pt>
                  <c:pt idx="4">
                    <c:v>Javob</c:v>
                  </c:pt>
                  <c:pt idx="5">
                    <c:v>Talqin</c:v>
                  </c:pt>
                  <c:pt idx="6">
                    <c:v>Oldingi mavzu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</c:v>
                </c:pt>
                <c:pt idx="1">
                  <c:v>87</c:v>
                </c:pt>
                <c:pt idx="2">
                  <c:v>84</c:v>
                </c:pt>
                <c:pt idx="3">
                  <c:v>90</c:v>
                </c:pt>
                <c:pt idx="4">
                  <c:v>77</c:v>
                </c:pt>
                <c:pt idx="5">
                  <c:v>42</c:v>
                </c:pt>
                <c:pt idx="6">
                  <c:v>32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300" u="none">
                  <a:solidFill>
                    <a:srgbClr val="13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9EA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5A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Soha nuqtai nazaridan asosiy g'oyamiz: AI o'qituvchini almashtirmaydi, u eslab qoladi, hisoblaydi va taklif qiladi. Qaror doim o'qituvchida. Bugun o'qituvchining real kuni, pedagogik asos, amaliy qo'llanish va qonunchilik haqida gapiramiz.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to'qima persona, lekin har bir detal real sharoitdan: haftasiga 20 soatdan ko'p dars, 4–6 ta sinf, har chorakda kamida 4 marta formativ baholash. O'qituvchi 150 ta bola haqida kim qayerda qiynalayotganini eslab qololmaydi. DarsPilot aynan shu xotira yukini oladi.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 o'ylab topilgan metodikadan emas, tan olingan yondashuvlardan foydalanamiz. Eng muhimi — 2026 yil avgustida muhokamaga qo'yilgan standartdagi matematika uchun 5 bosqichli muammo yechish yondashuvi: diagnostik varag'imiz tuzilmasi unga deyarli bir xil. Xatolarni Nyuman tahlili bo'yicha tasniflaymiz.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Varaq shunday tuzilgan: har savol bitta bosqichni tekshiradi, har noto'g'ri variant bitta aniq xatoni bildiradi. Masalan, 6-savolda "2 soat 40 minut" ni tanlagan bola bugungi mavzuni emas, 4-sinfdagi vaqt birliklarini bilmaydi. O'qituvchi sababni davolaydi, oqibatni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demo sinfdagi tizim chiqishi. Oddiy test "sinf o'rtacha 71%" deydi. Bizning tashxis esa aniqroq: model tanlash va hisoblash yaxshi, lekin talqin 42% va oldingi mavzu 32%. 13 o'quvchi o'nli soatni minut deb o'qiydi. Ertangi darsda AI takrorlash bosqichiga shu xatoga 3 daqiqalik mashq qo'shadi.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Ssenariy milliy dars tuzilmasidagi 8 bosqichni saqlaydi. Farqi — u sinfni biladi: diagnostikadagi zaif bosqich takrorlashga tushadi, e'tiborsiz o'quvchilarga aniq vazifa beriladi, guruhlarda kuchli va tayanch o'quvchilar aralash, qiyin masala qismlarga bo'linadi. O'qituvchi har qanday metodni almashtira oladi.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E'tibor jurnali — eng oddiy, lekin eng kuchli funksiya. Passiv bola sinfda ko'rinmaydi. O'qituvchi dars oxirida bugun kim bilan ishlaganini belgilaydi, 30 soniya. Ustuvorlik balida e'tiborsizlik hisobga olinadi, 5 darsdan oshsa o'quvchi keyingi ssenariyga majburiy kiritiladi.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Amaliy tomoni: biz maktabga kompyuter sinfi kerak bo'ladigan yechim qurmadik. Qog'oz, qalam va o'qituvchi telefoni. Diagnostika 8 daqiqa, natija 1 daqiqada. Formativ ball Excel'da tayyor — 100 ballik tizim talabiga mos. Mentordan so'raymiz: yana qaysi sharoitni hisobga olishimiz kerak?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Bolalar ma'lumoti bilan ishlaymiz, shuning uchun qonunchilikni dizayndan boshladik. ZRU-547 ning 21-moddasi ota-ona roziligini talab qiladi — rozilik oqimini pilotdan oldin qo'shamiz. Hozirning o'zida AI ga ism ketmaydi, skaner yuz yoki ismni o'qimaydi, fayllar o'z serverimizda. Nima tayyor va nima rejada ekanini ochiq ajratdik.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Ta'sir: bitta sinfda 108 daqiqa, bitta o'qituvchida har siklda 9 soatga yaqin vaqt. Lekin asosiy ta'sir — vaqt emas, har bola ko'rinadigan bo'lishi. Pilotda buni raqamlar bilan o'lchaymiz. Mentordan ikki narsa so'raymiz: savollar va xato turlarini metodist sifatida ko'rib chiqish va pilot uchun maktab bilan tanishtirish.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5-image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70432" y="502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</a:t>
            </a:r>
            <a:pPr indent="0" marL="0">
              <a:buNone/>
            </a:pPr>
            <a:r>
              <a:rPr lang="en-US" sz="2200" b="1" dirty="0">
                <a:solidFill>
                  <a:srgbClr val="74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4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  ·  SOHA MENTORI  ·  18.09.2026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— kapitan. DarsPilot — ikkinchi uchuvchi.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A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5–6-sinf matematikasi: bosqichli diagnostika, har bir o'quvchi haqidagi xotira va sinf holatiga moslangan 45 daqiqalik dars.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92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baholaydigan mezonlar: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230368"/>
            <a:ext cx="1623974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230368"/>
            <a:ext cx="1623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dolzarbligi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2342" y="5230368"/>
            <a:ext cx="1474013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2342" y="5230368"/>
            <a:ext cx="14740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Sohani tushunish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66083" y="5230368"/>
            <a:ext cx="1548994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66083" y="5230368"/>
            <a:ext cx="15489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qo'llanish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632704"/>
            <a:ext cx="1099109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632704"/>
            <a:ext cx="10991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Qonunchilik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757477" y="5632704"/>
            <a:ext cx="1324051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57477" y="5632704"/>
            <a:ext cx="13240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Ta'sir ko'lami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22592" y="1979369"/>
            <a:ext cx="4700016" cy="2990702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9525">
            <a:solidFill>
              <a:srgbClr val="CBD8DA"/>
            </a:solidFill>
            <a:prstDash val="solid"/>
          </a:ln>
        </p:spPr>
      </p:sp>
      <p:pic>
        <p:nvPicPr>
          <p:cNvPr id="19" name="Image 1" descr="C:\Users\Lenovo\AppData\Local\Temp\claude\C--Users-Lenovo-Desktop-idea\b66ba64d-c56d-4273-9421-fa05681005f2\scratchpad\deckimg2\jpg\das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043377"/>
            <a:ext cx="4572000" cy="286268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Ta'lim treki  ·  Ustuvor mavzu №2: AI yordamida avtomatik baholash va feedback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MUAMMONING DOLZARBLIGI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O'qituvchining bir kuni: bugun va DarsPilot bilan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600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Ertangi darslar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8745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soat konspekt yozish o'rniga — 5 daqiqada tayyor ssenariyni ko'rib chiqish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14016"/>
            <a:ext cx="68580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414016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5054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5-B sinf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"Takrorlashda 1-savolni Sardorga bering — u 9 darsdan beri faol qatnashmagan"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19272"/>
            <a:ext cx="68580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19272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4107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oxiri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6850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daqiqalik diagnostik varaq; javob chiziqlari 2×5 qilib teriladi — 4 ta surat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68580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22452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43159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Tanaffus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459028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O'rindiqlar sxemasida bugun ishlangan o'quvchilarga tegish — 20 soniya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29784"/>
            <a:ext cx="68580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129784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Kechqurun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52212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54955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"42% talqinda xato: 2,4 soat = 2 soat 40 minut" — ertangi ssenariyga mini-mashq qo'shilgan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80960" y="1508760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09560" y="1673352"/>
            <a:ext cx="3593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soat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2203704"/>
            <a:ext cx="3593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 dars yuklamasi; matematika haftasiga 5 soat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80960" y="3026664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09560" y="3191256"/>
            <a:ext cx="3593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sinf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3721608"/>
            <a:ext cx="3593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100–210 o'quvchi; sinflarda 25–35, ba'zan 40–45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80960" y="4544568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09560" y="4709160"/>
            <a:ext cx="3593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0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 marta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7909560" y="5239512"/>
            <a:ext cx="3593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chorakda formativ baholash (100 ballik tizim: 10 + 50 + 40)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mentori  ·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SOHANI CHUQUR TUSHUNISH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Pedagogik asos: har bir funksiya ilmiy yondashuvga tayanadi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645152"/>
                <a:gridCol w="3931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Yondashuv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Mohiyati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DarsPilotda qayerda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Milliy standart (2026)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Muammoni aniqlash → modellashtirish → yechish → muqobillarni solishtirish → eng yaxshisini tanlash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Diagnostik savollar tuzilmasi va hisobotdagi ko'nikma nomlari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Tushunish → reja → bajarish → tekshirish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Savollar ketma-ketligi, yo'naltiruvchi savollar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Nyuman xatolar tahlili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O'qish → tushunish → model → hisoblash → javobni yozish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Distraktor → xato turi; o'quvchining xato profili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PISA sikli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Shakllantirish → qo'llash → talqin va baholash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6-savol (talqin), B3–B4 kontekstli variantlar, guruh masalasi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Singapur: CPA, bar-model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Aniq → tasviriy → abstrakt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Yangi mavzu bosqichi va metodlar kutubxonasi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Vigotskiy: yaqin rivojlanish zonasi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Yordam bilan uddalaydigan daraja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B1–B4 darajali variantlar; guruhda qismlarni taqsimlash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mentori  ·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 VARAQ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savol — masala yechishning 7 bosqichi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6692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813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Muammoni aniqlash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481328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Masalada nima so'ralmoqda?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66544"/>
            <a:ext cx="56692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066544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06654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ajratish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066544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ma'lumotlar berilgan?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6692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651760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6517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tanlash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2651760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ifoda masalani modellashtiradi?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56692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236976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23697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Oraliq hisob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3236976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soatda necha km yaqinlashadi?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22192"/>
            <a:ext cx="56692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822192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82219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063240" y="3822192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panjarasiga yozing: 2,4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5669280" cy="493776"/>
          </a:xfrm>
          <a:prstGeom prst="roundRect">
            <a:avLst>
              <a:gd name="adj" fmla="val 14815"/>
            </a:avLst>
          </a:prstGeom>
          <a:solidFill>
            <a:srgbClr val="FBF0EB"/>
          </a:solidFill>
          <a:ln w="9525">
            <a:solidFill>
              <a:srgbClr val="F6DD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407408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40740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Talqin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063240" y="4407408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 soat — necha soat necha minut?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992624"/>
            <a:ext cx="56692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992624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99262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Oldingi mavzu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063240" y="4992624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soat 45 minut necha minut?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623560"/>
            <a:ext cx="5669280" cy="548640"/>
          </a:xfrm>
          <a:prstGeom prst="roundRect">
            <a:avLst>
              <a:gd name="adj" fmla="val 13333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56235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6-savolda "2 soat 40 minut" tanlansa → xato turi: o'nli soatni minut deb o'qish → ildiz: vaqt birliklari (4-sinf)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19672" y="1677297"/>
            <a:ext cx="5157216" cy="2589005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9525">
            <a:solidFill>
              <a:srgbClr val="CBD8DA"/>
            </a:solidFill>
            <a:prstDash val="solid"/>
          </a:ln>
        </p:spPr>
      </p:sp>
      <p:pic>
        <p:nvPicPr>
          <p:cNvPr id="35" name="Image 0" descr="C:\Users\Lenovo\AppData\Local\Temp\claude\C--Users-Lenovo-Desktop-idea\b66ba64d-c56d-4273-9421-fa05681005f2\scratchpad\deckimg2\jpg\stri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41305"/>
            <a:ext cx="5029200" cy="2460989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658368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 chizig'i (ilovadan chop etilgan PDF)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583680" y="48920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o'quvchi o'z darajasidagi (B1–B4) variantni oladi, chiziq bir xil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Ismni tizim o'qimaydi — o'quvchi kod va markerlar orqali aniqlanadi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Bajarish vaqti ≈ 8 daqiqa, darsning diagnostika bosqichida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mentori  ·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TASHXIS NATIJASI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 hisoblashni biladi — talqinda yiqiladi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sinf: 31 o'quvchi, to'qima ismlar va sun'iy javoblar; tahlil — haqiqiy tizim chiqishi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66751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737360"/>
            <a:ext cx="405079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901952"/>
            <a:ext cx="3685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o'quvchi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432304"/>
            <a:ext cx="36850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"2,4 soat = 2 soat 40 minut" — sinfdagi eng ko'p xato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89520" y="3246120"/>
            <a:ext cx="405079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90688" y="344728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638" y="3548238"/>
            <a:ext cx="218724" cy="2187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66760" y="344728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tavsiyasi (keyingi darsga)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3995928"/>
            <a:ext cx="3639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Takrorlash bosqichida 3 daqiqalik mini-mashq: 0,1 soat = 6 minut ekanini ko'rsatish.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589520" y="4846320"/>
            <a:ext cx="405079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90688" y="504748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638" y="514843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504748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o'quvchiga 3 xil feedback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7818120" y="559612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O'quvchiga, ota-onaga (uyda 5 daqiqalik mashq) va o'qituvchiga.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mentori  ·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QO'LLANISH · DARS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daqiqa, 8 bosqich — nomli ko'rsatmalar bilan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47243" cy="777240"/>
          </a:xfrm>
          <a:prstGeom prst="roundRect">
            <a:avLst>
              <a:gd name="adj" fmla="val 12267"/>
            </a:avLst>
          </a:prstGeom>
          <a:solidFill>
            <a:srgbClr val="0A8A91"/>
          </a:solidFill>
          <a:ln w="9525">
            <a:solidFill>
              <a:srgbClr val="0A8A9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901952"/>
            <a:ext cx="337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2′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41603" y="1508760"/>
            <a:ext cx="1186688" cy="777240"/>
          </a:xfrm>
          <a:prstGeom prst="roundRect">
            <a:avLst>
              <a:gd name="adj" fmla="val 7059"/>
            </a:avLst>
          </a:prstGeom>
          <a:solidFill>
            <a:srgbClr val="23328C"/>
          </a:solidFill>
          <a:ln w="9525">
            <a:solidFill>
              <a:srgbClr val="2332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4755" y="1554480"/>
            <a:ext cx="107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Takrorlash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4755" y="1901952"/>
            <a:ext cx="107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74011" y="1508760"/>
            <a:ext cx="693725" cy="777240"/>
          </a:xfrm>
          <a:prstGeom prst="roundRect">
            <a:avLst>
              <a:gd name="adj" fmla="val 7909"/>
            </a:avLst>
          </a:prstGeom>
          <a:solidFill>
            <a:srgbClr val="74C0C3"/>
          </a:solidFill>
          <a:ln w="9525">
            <a:solidFill>
              <a:srgbClr val="74C0C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47163" y="1901952"/>
            <a:ext cx="5839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3456" y="1508760"/>
            <a:ext cx="940206" cy="777240"/>
          </a:xfrm>
          <a:prstGeom prst="roundRect">
            <a:avLst>
              <a:gd name="adj" fmla="val 7059"/>
            </a:avLst>
          </a:prstGeom>
          <a:solidFill>
            <a:srgbClr val="3444A8"/>
          </a:solidFill>
          <a:ln w="9525">
            <a:solidFill>
              <a:srgbClr val="3444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86608" y="1554480"/>
            <a:ext cx="830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86608" y="1901952"/>
            <a:ext cx="830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99382" y="1508760"/>
            <a:ext cx="2912059" cy="777240"/>
          </a:xfrm>
          <a:prstGeom prst="roundRect">
            <a:avLst>
              <a:gd name="adj" fmla="val 7059"/>
            </a:avLst>
          </a:prstGeom>
          <a:solidFill>
            <a:srgbClr val="0A8A91"/>
          </a:solidFill>
          <a:ln w="9525">
            <a:solidFill>
              <a:srgbClr val="0A8A9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72534" y="1554480"/>
            <a:ext cx="28023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mavzu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072534" y="1901952"/>
            <a:ext cx="28023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57162" y="1508760"/>
            <a:ext cx="2172614" cy="777240"/>
          </a:xfrm>
          <a:prstGeom prst="roundRect">
            <a:avLst>
              <a:gd name="adj" fmla="val 7059"/>
            </a:avLst>
          </a:prstGeom>
          <a:solidFill>
            <a:srgbClr val="23328C"/>
          </a:solidFill>
          <a:ln w="9525">
            <a:solidFill>
              <a:srgbClr val="2332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30314" y="1554480"/>
            <a:ext cx="2062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Mustahkamlash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30314" y="1901952"/>
            <a:ext cx="20628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75496" y="1508760"/>
            <a:ext cx="1926133" cy="777240"/>
          </a:xfrm>
          <a:prstGeom prst="roundRect">
            <a:avLst>
              <a:gd name="adj" fmla="val 7059"/>
            </a:avLst>
          </a:prstGeom>
          <a:solidFill>
            <a:srgbClr val="D9A21B"/>
          </a:solidFill>
          <a:ln w="9525">
            <a:solidFill>
              <a:srgbClr val="D9A21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48648" y="1554480"/>
            <a:ext cx="18164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248648" y="1901952"/>
            <a:ext cx="18164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147349" y="1508760"/>
            <a:ext cx="447243" cy="777240"/>
          </a:xfrm>
          <a:prstGeom prst="roundRect">
            <a:avLst>
              <a:gd name="adj" fmla="val 12267"/>
            </a:avLst>
          </a:prstGeom>
          <a:solidFill>
            <a:srgbClr val="74C0C3"/>
          </a:solidFill>
          <a:ln w="9525">
            <a:solidFill>
              <a:srgbClr val="74C0C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220501" y="1901952"/>
            <a:ext cx="3375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2′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Motivatsiya 2′ · Uy vazifasi 3′ · Refleksiya 2′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2104" y="2724912"/>
            <a:ext cx="5468112" cy="3465576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CBD8DA"/>
            </a:solidFill>
            <a:prstDash val="solid"/>
          </a:ln>
        </p:spPr>
      </p:sp>
      <p:pic>
        <p:nvPicPr>
          <p:cNvPr id="27" name="Image 0" descr="C:\Users\Lenovo\AppData\Local\Temp\claude\C--Users-Lenovo-Desktop-idea\b66ba64d-c56d-4273-9421-fa05681005f2\scratchpad\deckimg2\jpg\less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788920"/>
            <a:ext cx="5340096" cy="333756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812280" y="280720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230" y="2908158"/>
            <a:ext cx="218724" cy="218724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360920" y="27614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Diagnostikadan kelib chiqadi</a:t>
            </a:r>
            <a:endParaRPr lang="en-US" sz="1350" dirty="0"/>
          </a:p>
        </p:txBody>
      </p:sp>
      <p:sp>
        <p:nvSpPr>
          <p:cNvPr id="31" name="Text 27"/>
          <p:cNvSpPr txBox="1"/>
          <p:nvPr/>
        </p:nvSpPr>
        <p:spPr>
          <a:xfrm>
            <a:off x="7360920" y="30815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zaif bosqich va asosiy xato takrorlash va mustahkamlashga kiritiladi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812280" y="365760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BF0EB"/>
          </a:solidFill>
          <a:ln w="9525">
            <a:solidFill>
              <a:srgbClr val="F6DDD2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230" y="3758550"/>
            <a:ext cx="218724" cy="218724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7360920" y="3611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Nomli ko'rsatmalar</a:t>
            </a:r>
            <a:endParaRPr lang="en-US" sz="1350" dirty="0"/>
          </a:p>
        </p:txBody>
      </p:sp>
      <p:sp>
        <p:nvSpPr>
          <p:cNvPr id="35" name="Text 30"/>
          <p:cNvSpPr txBox="1"/>
          <p:nvPr/>
        </p:nvSpPr>
        <p:spPr>
          <a:xfrm>
            <a:off x="7360920" y="3931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"5B-02 — 7 dars e'tiborsiz: birinchi taxminini aytadi"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6812280" y="4507992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230" y="4608942"/>
            <a:ext cx="218724" cy="218724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7360920" y="4462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 guruhlar va rollar</a:t>
            </a:r>
            <a:endParaRPr 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7360920" y="47823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Murabbiy, tekshiruvchi, hisobchi, taqdimotchi; qiyin masala a–e qismlarga bo'linadi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6812280" y="535838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3230" y="5459334"/>
            <a:ext cx="218724" cy="218724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360920" y="53126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tahrirlaydi va tasdiqlaydi</a:t>
            </a:r>
            <a:endParaRPr lang="en-US" sz="1350" dirty="0"/>
          </a:p>
        </p:txBody>
      </p:sp>
      <p:sp>
        <p:nvSpPr>
          <p:cNvPr id="43" name="Text 36"/>
          <p:cNvSpPr txBox="1"/>
          <p:nvPr/>
        </p:nvSpPr>
        <p:spPr>
          <a:xfrm>
            <a:off x="7360920" y="56327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Metod, vaqt, o'quvchi — bir bosishda; tanlovlar keyingi ssenariyda hisobga olinadi; dars ishlanmasi PDF</a:t>
            </a:r>
            <a:endParaRPr lang="en-US" sz="1150" dirty="0"/>
          </a:p>
        </p:txBody>
      </p:sp>
      <p:sp>
        <p:nvSpPr>
          <p:cNvPr id="44" name="Text 37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mentori  ·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ADOLATLI E'TIBOR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 bir bola 5 darsdan ortiq "ko'rinmas" qolmaydi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1580" y="1399032"/>
            <a:ext cx="6317801" cy="4151376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CBD8DA"/>
            </a:solidFill>
            <a:prstDash val="solid"/>
          </a:ln>
        </p:spPr>
      </p:sp>
      <p:pic>
        <p:nvPicPr>
          <p:cNvPr id="5" name="Image 0" descr="C:\Users\Lenovo\AppData\Local\Temp\claude\C--Users-Lenovo-Desktop-idea\b66ba64d-c56d-4273-9421-fa05681005f2\scratchpad\deckimg2\jpg\attent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88" y="1463040"/>
            <a:ext cx="6189785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325112" cy="2148840"/>
          </a:xfrm>
          <a:prstGeom prst="roundRect">
            <a:avLst>
              <a:gd name="adj" fmla="val 4255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4380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Ustuvorlik bali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0,35·E + 0,30·(1−O) + 0,15·T + 0,15·B + 0,05·Y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2468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oxirgi xato · O — o'zlashtirish · T — e'tiborsiz darslar · B — tayanch bo'shliq · Y — o'sish sur'ati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0" y="3794760"/>
            <a:ext cx="432511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16368" y="399592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BF0EB"/>
          </a:solidFill>
          <a:ln w="9525">
            <a:solidFill>
              <a:srgbClr val="F6DDD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318" y="4096878"/>
            <a:ext cx="218724" cy="2187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92440" y="3995928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dars e'tiborsiz → majburiy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543800" y="4544568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Bunday o'quvchi keyingi ssenariyda albatta nomli vazifa oladi, guruhda taqdimotchi bo'ladi.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66928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— 30 soniyalik odat: dars oxirida bugun ishlangan o'quvchilarga teginish. Ma'lumot o'qituvchini nazorat qilish uchun emas, qo'llab-quvvatlash uchun.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mentori  ·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QO'LLANISH · MAKTAB SHAROITI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maktabining cheklovlari hisobga olingan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93592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58" y="1856598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5564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 yetishmaydi, ikki smena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04288"/>
            <a:ext cx="31821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O'quvchiga faqat qog'oz va qalam, o'qituvchiga bitta telefon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93592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8848" y="17556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798" y="1856598"/>
            <a:ext cx="218724" cy="2187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74920" y="175564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etish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304288"/>
            <a:ext cx="31821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A4 = 3 ta javob chizig'i; masala kartochkalari darajalar bo'yicha, kalit bilan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593592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47888" y="17556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838" y="185659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23960" y="175564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vaqti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304288"/>
            <a:ext cx="31821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Diagnostika 8 daqiqa; 31 ta ish 4 ta suratda, natija 1 daqiqada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474720"/>
            <a:ext cx="3593592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7588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758" y="3776838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67588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nazorati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224528"/>
            <a:ext cx="31821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Ishonchsiz o'qilgan javoblar sariq — bir tegishda tasdiqlanadi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97680" y="3474720"/>
            <a:ext cx="3593592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8848" y="367588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798" y="3776838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74920" y="367588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ballik tizim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224528"/>
            <a:ext cx="31821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formativ ball (0–10) va tavsiyalar — jurnalga ko'chirish tayyor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046720" y="3474720"/>
            <a:ext cx="3593592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47888" y="367588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838" y="3776838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23960" y="367588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Taqvim-mavzu reja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224528"/>
            <a:ext cx="31821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PDF/DOCX/XLSX reja yuklanadi, AI mavzu va ko'nikmalarga ajratadi, o'qituvchi tasdiqlaydi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2296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Mentordan savolimiz: maktabda yana qaysi cheklovni hisobga olishimiz kerak?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mentori  ·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QONUNCHILIKKA MUVOFIQLIK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Voyaga yetmaganlar ma'lumoti: dizayn orqali maxfiylik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3251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Bizning yechim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ZRU-547, 21-modda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Voyaga yetmaganlar ma'lumoti — ota-ona yoki vasiyning yozma (elektron) roziligi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Maktab/markaz orqali elektron rozilik oqimi (pilotdan oldin)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ZRU-1125 (27.03.2026 dan)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Majburiy lokalizatsiya — biometrik, genetik, telekom ma'lumotlari; boshqalari shartlar bilan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xavfsiz yo'l: O'zbekistondagi hosting; biometrik ma'lumot yig'ilmaydi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ZRU-547, 20-modda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Ma'lumotlar bazasini ro'yxatdan o'tkazish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Pilotdan oldin yurist bilan aniqlashtiriladi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5468112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4645152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9" y="4741713"/>
            <a:ext cx="209215" cy="20921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464515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 ishlaydi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13892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 ism yuborilmaydi — faqat 5B-07 kabi kodlar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Skaner ismni o'qimaydi, yuz rasmi olinmaydi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Suratlar va PDF o'z serverimizdagi MinIO da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172200" y="4480560"/>
            <a:ext cx="5468112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73368" y="4645152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929" y="4741713"/>
            <a:ext cx="209215" cy="20921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903720" y="464515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Pilotgacha qo'shiladi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6446520" y="513892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Rozilik holati va rolga asoslangan kirish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 suratlari 90 kunda o'chiriladi</a:t>
            </a:r>
            <a:endParaRPr lang="en-US" sz="12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zaxira nusxa, audit jurnali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Yuridik maslahat emas — pilotdan oldin shaxsiy ma'lumotlar bo'yicha yurist bilan tekshiriladi.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mentori  ·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TA'SIR KO'LAMI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o'qituvchidan butun tizimgacha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334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108 daq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03704"/>
            <a:ext cx="2267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sinf diagnostikasida tejaladi (31 o'quvchi × 3,5 daq)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508760"/>
            <a:ext cx="26334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673352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 soat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203704"/>
            <a:ext cx="2267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o'qituvchiga har diagnostika siklida (150 o'quvchi)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508760"/>
            <a:ext cx="26334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673352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 ming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203704"/>
            <a:ext cx="2267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matematika o'qituvchisi — birinchi auditoriya (taxmin)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1508760"/>
            <a:ext cx="26334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1673352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6,87 mln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203704"/>
            <a:ext cx="22677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o'quvchi; keyin fizika, kimyo va Markaziy Osiyo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67665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4015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511296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71600" y="34015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haftalik pilot: 1 xususiy maktab + 2 o'quv markazi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397764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Ssenariyni ko'rib chiqish vaqti: mediana ≤ 5 daqiqa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Skaner aniqligi: pufakcha ≥ 99%, son panjarasi ≥ 97%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Tashxisning o'qituvchi xulosasiga mosligi ≥ 80%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dars e'tiborsiz o'quvchilar ulushi kamayishi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sinflarida o'sish nazoratdan ≥ 10% yuqori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589520" y="3200400"/>
            <a:ext cx="4050792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90688" y="340156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638" y="3502518"/>
            <a:ext cx="218724" cy="21872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366760" y="340156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Mentordan so'rovimiz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3950208"/>
            <a:ext cx="36393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Diagnostik savollar va xato turlarini metodist ko'zi bilan ko'rib chiqish.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Pilot uchun maktab yoki metodbirlashma bilan tanishtirish.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Qaysi mavzu va sinfni keyingi masalalar banki uchun tanlash.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mentori  · 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DarsPilot — CP1, soha mentori</dc:title>
  <dc:subject>PptxGenJS Presentation</dc:subject>
  <dc:creator>PptxGenJS</dc:creator>
  <cp:lastModifiedBy>PptxGenJS</cp:lastModifiedBy>
  <cp:revision>1</cp:revision>
  <dcterms:created xsi:type="dcterms:W3CDTF">2026-09-17T16:52:00Z</dcterms:created>
  <dcterms:modified xsi:type="dcterms:W3CDTF">2026-09-17T16:52:00Z</dcterms:modified>
</cp:coreProperties>
</file>