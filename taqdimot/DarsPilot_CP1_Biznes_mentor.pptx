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6767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6767E"/>
                </a:solidFill>
                <a:latin typeface="Calibri"/>
              </a:rPr>
              <a:t>DarsPilot narxi o'quvchi to'lovining ulushi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Ulush</c:v>
                </c:pt>
              </c:strCache>
            </c:strRef>
          </c:tx>
          <c:spPr>
            <a:solidFill>
              <a:srgbClr val="0A8A9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O'quv markazi: 12 000 / 590 000 so'm kurs</c:v>
                  </c:pt>
                  <c:pt idx="1">
                    <c:v>Xususiy maktab: 15 000 / 4,8 mln so'm to'lov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3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ustuvor mavzu №2 ni tanladik: o'qituvchi vaqti tekshirish va hujjatlarga ketadi. DarsPilot bu vaqtni qaytaradi va natijani ota-ona va direktor ko'radigan dalilga aylantiradi. Bugun kim to'laydi, qancha va nega aynan biz — shularni ko'rsatamiz.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raqamlarda: bitta matematika o'qituvchisida 100 dan 210 gacha o'quvchi. Ularni tekshirish va har biri haqida eslab qolish inson imkoniyatidan tashqarida. Davlat esa formativ baholashni chorakda kamida 4 marta talab qilyapti — ya'ni tekshirish yuki yanada oshadi. Bu aynan ustuvor mavzu №2.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Yechim: o'quvchi qog'ozda yechadi, o'qituvchi telefonda suratga oladi. Tizim har bir bola uchun tashxis va feedback beradi. Mijoz uch narsa oladi: vaqt, o'quvchilar haqidagi xotira va ota-onaga ko'rsatadigan dalil. Aynan dalil — pul to'laydiganlar uchun asosiy qiymat.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pul — o'quv markazlari va xususiy maktablardan. Ularda qaror tez va ular ota-onaga natija ko'rsatishi shart. O'qituvchilar uchun freemium — bu daromad emas, tarqalish kanali. Davlat va donor loyihalari — masshtab uchun, uzoqroq sikl.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Narx mijoz uchun sezilmaydi: o'quv markazida bu kurs narxining taxminan 2 foizi, xususiy maktabda 1 foizdan kam. Lekin aynan shu 2 foiz ota-onani ushlab qoladigan haftalik hisobotni beradi. O'qituvchilar bozori ham to'laydi — EduBaza bunga misol.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Bozor: O'zbekistonda 5–11-sinf matematikasi taxminan 36 million dollar. Birinchi uch yilda erishiladigan segmentlar — 4,4 million. Maqsadimiz uchinchi yil oxirida 1 million dollar yillik takroriy daromad: 400 ta o'quv markazi, 40 ta xususiy maktab va 2 000 pullik o'qituvchi. Keyin — boshqa aniq fanlar va Markaziy Osiyo.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Moliyaviy barqarorlik: AI arzon — o'lchadik, bitta sinfning to'liq sikli 26 ming token atrofida, bu o'quvchiga oyiga 420 so'mdan kam, narx esa 12 ming. Asosiy xarajat sotuv va onboarding. Shuning uchun marja 85% atrofida, mijoz 1–2 oyda o'zini qoplaydi. CAC va LTV — farazlar, pilotda tekshiramiz.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Raqobat: dars rejasi generatorlari — EduBaza, Khanmigo, davlat platformasi — sinfdagi aniq bolalarni bilmaydi. Adaptiv platformalar — Cerebry, Eduten — har o'quvchiga qurilma talab qiladi. ZipGrade faqat ball qo'yadi. Biz yuqori o'ng burchakdamiz. "eMaktab ham qilsa-chi?" savoliga javob: biz raqobatlashmaymiz, integratsiya qilamiz — formativ ballarni eksport qilamiz; xususiy segment esa eMaktabga bog'liq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Bozorga chiqish uch bosqichda. Birinchi uch oy — bepul pilotlar va keys-stadilar. Keyin pilotlarni pullikka o'tkazamiz va markazlar orqali referal. Yilning ikkinchi yarmida davlat pilotiga va eMaktab bilan integratsiyaga tayyorlanamiz, parallel ravishda boshqa fanlarga kengayamiz.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Moliyalashtirish: hackathondan keyin IT Park rezidentligi va PQ-59 qarori bo'yicha MVP vaucheri. Pilot natijalari bilan angel yoki pre-seed raund — mahalliy edtech bitimlari 50–150 ming dollar atrofida. Davlat maktablariga donor loyihalari orqali kiramiz. Mentordan maslahat so'raymiz: qaysi segmentdan boshlashni tasdiqlaysizmi?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Oxirida — biz nimani bilmasligimizni ochiq aytamiz va qanday tekshirishimizni ko'rsatamiz. Eng muhim gipoteza: o'quv markazlari to'laydimi. Mezon — 10 ta markazdan kamida 3 tasi pullikka o'tishi. Mentordan pilot uchun tanishtirishda yordam so'raymiz.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70432" y="502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</a:t>
            </a:r>
            <a:pPr indent="0" marL="0">
              <a:buNone/>
            </a:pPr>
            <a:r>
              <a:rPr lang="en-US" sz="2200" b="1" dirty="0">
                <a:solidFill>
                  <a:srgbClr val="74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4C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 ·  BIZNES MENTOR  ·  18.09.2026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Tekshirishga ketadigan soatlarni o'qituvchiga qaytaramiz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A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Bosqichli diagnostika, o'quvchi xotirasi va keyingi dars ssenariysi — o'quv markazlari va xususiy maktablar uchun obuna.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92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baholaydigan mezonlar: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230368"/>
            <a:ext cx="1623974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23036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dolzarbligi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2342" y="5230368"/>
            <a:ext cx="1249070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2342" y="5230368"/>
            <a:ext cx="12490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41141" y="5230368"/>
            <a:ext cx="1548994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41141" y="5230368"/>
            <a:ext cx="15489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 ustunligi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632704"/>
            <a:ext cx="1848917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632704"/>
            <a:ext cx="18489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barqarorlik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07285" y="5632704"/>
            <a:ext cx="724205" cy="310896"/>
          </a:xfrm>
          <a:prstGeom prst="roundRect">
            <a:avLst>
              <a:gd name="adj" fmla="val 50000"/>
            </a:avLst>
          </a:prstGeom>
          <a:solidFill>
            <a:srgbClr val="26357F"/>
          </a:solidFill>
          <a:ln w="9525">
            <a:solidFill>
              <a:srgbClr val="3A4A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07285" y="5632704"/>
            <a:ext cx="724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22592" y="1979369"/>
            <a:ext cx="4700016" cy="2990702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19" name="Image 1" descr="C:\Users\Lenovo\AppData\Local\Temp\claude\C--Users-Lenovo-Desktop-idea\b66ba64d-c56d-4273-9421-fa05681005f2\scratchpad\deckimg2\jpg\das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043377"/>
            <a:ext cx="4572000" cy="286268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 treki  ·  Ustuvor mavzu №2: AI yordamida avtomatik baholash va feedback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matematika o'qituvchisi — 150 ta bola, 0 ta tizimli xotira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577 700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O'zbekistonda; 6,87 mln o'quvchi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71907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100–210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359152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bitta 5–6-sinf matematika o'qituvchisida (4–6 sinf)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544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71907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359152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sinfda, ~2 000 sinfda 35 dan ko'p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15544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719072"/>
            <a:ext cx="2267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359152"/>
            <a:ext cx="2267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PISA 2022 matematikada bazaviy darajadan past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68112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6301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8" y="3731118"/>
            <a:ext cx="218724" cy="21872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25880" y="363016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Og'riq: vaqt va xotira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178808"/>
            <a:ext cx="5056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 ishni tekshirib, har biriga izoh yozish ≈ 1,5–2 soat.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qaysi bosqichda adashayotgani va kim bilan oxirgi marta ishlangani yozilmaydi.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Natijada dars "o'rtacha o'quvchi"ga qaratiladi, bo'shliqlar yillab to'planadi.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5468112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73368" y="363016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318" y="3731118"/>
            <a:ext cx="218724" cy="21872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949440" y="363016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hozir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4178808"/>
            <a:ext cx="50566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ballik tizim: formativ baholash chorakda kamida 4 marta (2026/27 da 5 000+ maktab).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standart: matematikada 5 bosqichli muammo yechish yondashuvi.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 2029 ga tayyorgarlik; 38 000+ o'quv markazi natija ko'rsatishi kerak.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Qog'oz + telefon → tashxis, feedback va keyingi dars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011680"/>
            <a:ext cx="6528816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CBD8DA"/>
            </a:solidFill>
            <a:prstDash val="solid"/>
          </a:ln>
        </p:spPr>
      </p:sp>
      <p:pic>
        <p:nvPicPr>
          <p:cNvPr id="5" name="Image 0" descr="C:\Users\Lenovo\AppData\Local\Temp\claude\C--Users-Lenovo-Desktop-idea\b66ba64d-c56d-4273-9421-fa05681005f2\scratchpad\deckimg2\jpg\resul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5688"/>
            <a:ext cx="6400800" cy="3392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463040"/>
            <a:ext cx="41879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53528" y="166420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478" y="1765158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0" y="166420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1031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o'quvchi: ≈ 108 daqiqa qo'lda ish o'rniga 1 daqiqa. Feedback avtomatik.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452360" y="3035808"/>
            <a:ext cx="41879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53528" y="323697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478" y="3337926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0" y="3236976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0" y="36758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"Sardor 9 darsdan beri e'tiborsiz" — ssenariyga majburiy qo'shiladi.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52360" y="4608576"/>
            <a:ext cx="41879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53528" y="480974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478" y="4910694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0" y="4809744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680960" y="524865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AI-xulosa, direktor paneli, ota-onaga Telegram hisobot, Excel formativ ball.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qaror qiluvchi natija ko'rsatishi kerak bo'lgan joyda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33472" cy="45720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1869765"/>
            <a:ext cx="247254" cy="2472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83664" y="18379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83664" y="18379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Ustuvorlik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957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markazlari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743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38 000+ markaz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10896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natija ko'rmasa ketadi — o'sish hisoboti mijozni ushlab qoladi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0690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Egasi (1 kishi)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sikli: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hafta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3232" y="4937760"/>
            <a:ext cx="2304288" cy="1005840"/>
          </a:xfrm>
          <a:prstGeom prst="roundRect">
            <a:avLst>
              <a:gd name="adj" fmla="val 7273"/>
            </a:avLst>
          </a:prstGeom>
          <a:solidFill>
            <a:srgbClr val="F2F6F6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50292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ming so'm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468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/ oy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64992" y="1554480"/>
            <a:ext cx="2633472" cy="45720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66160" y="17556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277" y="1869765"/>
            <a:ext cx="247254" cy="24725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700016" y="18379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00016" y="18379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Ustuvorlik 1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3566160" y="23957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 maktablar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3566160" y="2743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 maktab, +21% / yil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3566160" y="310896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 3–6,5 mln so'm to'layotgan ota-ona sifat dalilini so'raydi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3566160" y="40690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Direktor, o'rinbosar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sikli: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oy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3529584" y="4937760"/>
            <a:ext cx="2304288" cy="1005840"/>
          </a:xfrm>
          <a:prstGeom prst="roundRect">
            <a:avLst>
              <a:gd name="adj" fmla="val 7273"/>
            </a:avLst>
          </a:prstGeom>
          <a:solidFill>
            <a:srgbClr val="F2F6F6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639312" y="50292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ming so'm</a:t>
            </a:r>
            <a:endParaRPr lang="en-US" sz="2100" dirty="0"/>
          </a:p>
        </p:txBody>
      </p:sp>
      <p:sp>
        <p:nvSpPr>
          <p:cNvPr id="27" name="Text 23"/>
          <p:cNvSpPr txBox="1"/>
          <p:nvPr/>
        </p:nvSpPr>
        <p:spPr>
          <a:xfrm>
            <a:off x="3639312" y="5468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/ oy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181344" y="1554480"/>
            <a:ext cx="2633472" cy="45720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82512" y="17556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629" y="1869765"/>
            <a:ext cx="247254" cy="247254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516368" y="18379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516368" y="18379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Ustuvorlik 2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6382512" y="23957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O'qituvchilar</a:t>
            </a:r>
            <a:endParaRPr lang="en-US" sz="1700" dirty="0"/>
          </a:p>
        </p:txBody>
      </p:sp>
      <p:sp>
        <p:nvSpPr>
          <p:cNvPr id="34" name="Text 29"/>
          <p:cNvSpPr txBox="1"/>
          <p:nvPr/>
        </p:nvSpPr>
        <p:spPr>
          <a:xfrm>
            <a:off x="6382512" y="2743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kanal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6382512" y="310896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tarif → o'qituvchi direktorni olib keladi; EduBaza 49–69 ming so'mdan sotmoqda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6382512" y="40690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O'qituvchining o'zi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sikli: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darhol, onlayn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6345936" y="4937760"/>
            <a:ext cx="2304288" cy="1005840"/>
          </a:xfrm>
          <a:prstGeom prst="roundRect">
            <a:avLst>
              <a:gd name="adj" fmla="val 7273"/>
            </a:avLst>
          </a:prstGeom>
          <a:solidFill>
            <a:srgbClr val="F2F6F6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455664" y="50292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69–99 ming</a:t>
            </a:r>
            <a:endParaRPr lang="en-US" sz="2100" dirty="0"/>
          </a:p>
        </p:txBody>
      </p:sp>
      <p:sp>
        <p:nvSpPr>
          <p:cNvPr id="39" name="Text 34"/>
          <p:cNvSpPr txBox="1"/>
          <p:nvPr/>
        </p:nvSpPr>
        <p:spPr>
          <a:xfrm>
            <a:off x="6455664" y="5468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 / oy (Pro)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8997696" y="1554480"/>
            <a:ext cx="2633472" cy="45720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198864" y="17556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981" y="1869765"/>
            <a:ext cx="247254" cy="247254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10332720" y="1837944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332720" y="183794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Ustuvorlik 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9198864" y="23957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va donorlar</a:t>
            </a:r>
            <a:endParaRPr lang="en-US" sz="1700" dirty="0"/>
          </a:p>
        </p:txBody>
      </p:sp>
      <p:sp>
        <p:nvSpPr>
          <p:cNvPr id="46" name="Text 40"/>
          <p:cNvSpPr txBox="1"/>
          <p:nvPr/>
        </p:nvSpPr>
        <p:spPr>
          <a:xfrm>
            <a:off x="9198864" y="27432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STEM, IsDB SmartEd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9198864" y="310896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 va formativ baholash maqsadlari; tuman pilotlari</a:t>
            </a:r>
            <a:endParaRPr lang="en-US" sz="1250" dirty="0"/>
          </a:p>
        </p:txBody>
      </p:sp>
      <p:sp>
        <p:nvSpPr>
          <p:cNvPr id="48" name="Text 42"/>
          <p:cNvSpPr txBox="1"/>
          <p:nvPr/>
        </p:nvSpPr>
        <p:spPr>
          <a:xfrm>
            <a:off x="9198864" y="406908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Qaror: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Vazirlik, hokimiyat, donor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sikli: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oy</a:t>
            </a:r>
            <a:endParaRPr lang="en-US" sz="1250" dirty="0"/>
          </a:p>
        </p:txBody>
      </p:sp>
      <p:sp>
        <p:nvSpPr>
          <p:cNvPr id="49" name="Shape 43"/>
          <p:cNvSpPr/>
          <p:nvPr/>
        </p:nvSpPr>
        <p:spPr>
          <a:xfrm>
            <a:off x="9162288" y="4937760"/>
            <a:ext cx="2304288" cy="1005840"/>
          </a:xfrm>
          <a:prstGeom prst="roundRect">
            <a:avLst>
              <a:gd name="adj" fmla="val 7273"/>
            </a:avLst>
          </a:prstGeom>
          <a:solidFill>
            <a:srgbClr val="F2F6F6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9272016" y="50292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ming so'm</a:t>
            </a:r>
            <a:endParaRPr lang="en-US" sz="2100" dirty="0"/>
          </a:p>
        </p:txBody>
      </p:sp>
      <p:sp>
        <p:nvSpPr>
          <p:cNvPr id="51" name="Text 45"/>
          <p:cNvSpPr txBox="1"/>
          <p:nvPr/>
        </p:nvSpPr>
        <p:spPr>
          <a:xfrm>
            <a:off x="9272016" y="54681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/ yil yoki grant</a:t>
            </a:r>
            <a:endParaRPr lang="en-US" sz="1150" dirty="0"/>
          </a:p>
        </p:txBody>
      </p:sp>
      <p:sp>
        <p:nvSpPr>
          <p:cNvPr id="52" name="Text 46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mijoz daromadining 1–2% idan kam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852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5448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22219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Nima kiradi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sinf, 8 ssenariy, 100 skan / 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69 000 so'm / 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sinf, cheksiz skan, e'tibor jurnali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99 000 so'm / 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sinf, ota-ona hisobotlari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 so'm / o'quvchi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 o'qituvchilar, brendli hisobot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Maktab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so'm / o'quvchi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Direktor paneli, eMaktab eksporti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2628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49808" y="4727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4828398"/>
            <a:ext cx="218724" cy="2187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47274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To'lovga tayyorlik dalili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52760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EduBaza o'qituvchilarga oyiga 49–69 ming so'mdan sotmoqda; markaz kursi oyiga 480–700 ming so'm.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520440" y="452628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721608" y="47274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558" y="4828398"/>
            <a:ext cx="218724" cy="2187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297680" y="47274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mijoz taklifi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3749040" y="52760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3 mijozga −50% bir yil — evaziga keys-stadi va fikr-mulohaza.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675120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Narxlar pilot davomida tekshiriladi.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 IMKONIYATI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hajmi: TAM · SAM · SOM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USD ≈ 11 800 so'm; farazlar ochiq statistikaga asoslangan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434840" cy="4434840"/>
          </a:xfrm>
          <a:prstGeom prst="ellipse">
            <a:avLst/>
          </a:prstGeom>
          <a:solidFill>
            <a:srgbClr val="EAF6F6"/>
          </a:solidFill>
          <a:ln w="12700">
            <a:solidFill>
              <a:srgbClr val="A9D9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926080"/>
            <a:ext cx="2743200" cy="2743200"/>
          </a:xfrm>
          <a:prstGeom prst="ellipse">
            <a:avLst/>
          </a:prstGeom>
          <a:solidFill>
            <a:srgbClr val="EEF0F9"/>
          </a:solidFill>
          <a:ln w="12700">
            <a:solidFill>
              <a:srgbClr val="DAD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4114800"/>
            <a:ext cx="1280160" cy="1280160"/>
          </a:xfrm>
          <a:prstGeom prst="ellipse">
            <a:avLst/>
          </a:prstGeom>
          <a:solidFill>
            <a:srgbClr val="EEF0F9"/>
          </a:solidFill>
          <a:ln w="12700">
            <a:solidFill>
              <a:srgbClr val="3444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4526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59710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≈ 430 mlrd so'm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22199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5–11-sinf matematikasi: ~4,4 mln o'quvchi × 10 000 so'm × 9 oy + o'quv markazlaridagi ~300 ming o'quvchi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3154680"/>
            <a:ext cx="59710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3291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≈ 52 mlrd so'm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68503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3 yil segmentlari: xususiy maktablar (~100 ming o'quvchi), o'quv markazlari, pullik o'qituvchilar (5%)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4617720"/>
            <a:ext cx="59710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4754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≈ 11,8 mlrd so'm ARR (3-yil)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514807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o'quv markazi · 40 xususiy maktab · 2 000 pullik o'qituvchi · 2 tuman B2G pilot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BARQARORLIK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Unit-ekonomika: marja 80% dan yuqori, qoplash 1–2 oy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1488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Ko'rsatkich (oyiga)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O'quv markazi · 180 o'quvchi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Xususiy maktab · 300 o'quvchi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Tushum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2 160 000 so'm (≈ $183)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4 500 000 so'm (≈ $381)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xarajati (o'lchangan token asosida)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75 000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125 000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Hosting, qo'llab-quvvatlash ulushi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250 000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500 000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Yalpi marja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Mijozni jalb qilish (CAC, faraz)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1,5–3 mln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mln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Qoplash muddati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1–2 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1–2 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(3 yil, faraz)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54 mln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103 mln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08760"/>
            <a:ext cx="3867912" cy="4617720"/>
          </a:xfrm>
          <a:prstGeom prst="roundRect">
            <a:avLst>
              <a:gd name="adj" fmla="val 2364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0" y="17373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8470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tannarxi — o'lchangan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2331720"/>
            <a:ext cx="34747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26 ming token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o'quvchili sinfning to'liq sikli: masala matni, feedback, xulosa, ssenariy (10 chaqiruv)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420 so'm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/ oy, haftasiga 1 diagnostika bilan. Faraz: $5 / 1M kirish, $20 / 1M chiqish token (yuqori chegara)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3,5%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tushumning AI ga ketadigan ulushi (12 000 so'mlik markaz tarifida)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RAQOBATDAGI USTUNLIK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kvadrat: qurilmasiz va o'quvchi ma'lumotiga asoslangan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572000"/>
          </a:xfrm>
          <a:prstGeom prst="roundRect">
            <a:avLst>
              <a:gd name="adj" fmla="val 2000"/>
            </a:avLst>
          </a:prstGeom>
          <a:solidFill>
            <a:srgbClr val="F7FAFA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737360"/>
            <a:ext cx="0" cy="4206240"/>
          </a:xfrm>
          <a:prstGeom prst="line">
            <a:avLst/>
          </a:prstGeom>
          <a:noFill/>
          <a:ln w="12700">
            <a:solidFill>
              <a:srgbClr val="E2E9E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3840480"/>
            <a:ext cx="5669280" cy="0"/>
          </a:xfrm>
          <a:prstGeom prst="line">
            <a:avLst/>
          </a:prstGeom>
          <a:noFill/>
          <a:ln w="12700">
            <a:solidFill>
              <a:srgbClr val="E2E9E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3152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O'quvchiga qurilma kerak emas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O'quvchiga qurilma kerak ↓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kontent 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Sinfdagi aniq o'quvchilar ma'lumoti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14527" y="1975104"/>
            <a:ext cx="805586" cy="347472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4527" y="1975104"/>
            <a:ext cx="805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EduBaza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28139" y="2432304"/>
            <a:ext cx="881482" cy="347472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28139" y="2432304"/>
            <a:ext cx="8814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Khanmigo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4916" y="2980944"/>
            <a:ext cx="1716329" cy="347472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916" y="2980944"/>
            <a:ext cx="17163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AI platforma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26564" y="3438144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26564" y="3438144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eMaktab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19779" y="3209544"/>
            <a:ext cx="881482" cy="347472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9779" y="3209544"/>
            <a:ext cx="8814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ZipGrade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34967" y="4443984"/>
            <a:ext cx="805586" cy="347472"/>
          </a:xfrm>
          <a:prstGeom prst="roundRect">
            <a:avLst>
              <a:gd name="adj" fmla="val 50000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34967" y="4443984"/>
            <a:ext cx="805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1594" y="4901184"/>
            <a:ext cx="729691" cy="347472"/>
          </a:xfrm>
          <a:prstGeom prst="roundRect">
            <a:avLst>
              <a:gd name="adj" fmla="val 50000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41594" y="4901184"/>
            <a:ext cx="7296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43527" y="5358384"/>
            <a:ext cx="805586" cy="347472"/>
          </a:xfrm>
          <a:prstGeom prst="roundRect">
            <a:avLst>
              <a:gd name="adj" fmla="val 50000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43527" y="5358384"/>
            <a:ext cx="805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82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1920240"/>
            <a:ext cx="2011680" cy="658368"/>
          </a:xfrm>
          <a:prstGeom prst="roundRect">
            <a:avLst>
              <a:gd name="adj" fmla="val 27778"/>
            </a:avLst>
          </a:prstGeom>
          <a:solidFill>
            <a:srgbClr val="EAF6F6"/>
          </a:solidFill>
          <a:ln w="19050">
            <a:solidFill>
              <a:srgbClr val="0A8A9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19202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858000" y="160020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339" y="1705539"/>
            <a:ext cx="228234" cy="22823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452360" y="1554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Yopiq sikl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452360" y="19202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Diagnostika → o'quvchi modeli → ssenariy → yana diagnostika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858000" y="27614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339" y="2866827"/>
            <a:ext cx="228234" cy="228234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7452360" y="27157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turlari bilan belgilangan masalalar banki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7452360" y="30815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distraktor aniq xatoga bog'langan — nusxalash qiyin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858000" y="3922776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FBF0EB"/>
          </a:solidFill>
          <a:ln w="9525">
            <a:solidFill>
              <a:srgbClr val="F6DDD2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339" y="4028115"/>
            <a:ext cx="228234" cy="22823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452360" y="38770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E'tibor xotirasi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452360" y="42428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Ko'rib chiqilgan raqobatchilarning hech birida yo'q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858000" y="508406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339" y="5189403"/>
            <a:ext cx="228234" cy="22823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452360" y="50383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moslik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7452360" y="540410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dastur, 5 bosqichli standart, 100 ballik tizim, o'zbek tili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BOZORGA CHIQISH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oylik reja: isbot → daromad → masshtab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oy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Isbotlash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1363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 o'qituvchi intervyusi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bepul pilot: 1 xususiy maktab + 2 markaz, 8 hafta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kanallarda skaner "wow" videosi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o'qituvchi-elchi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5074920"/>
            <a:ext cx="3227832" cy="868680"/>
          </a:xfrm>
          <a:prstGeom prst="roundRect">
            <a:avLst>
              <a:gd name="adj" fmla="val 8421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0749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keys-stadi, narx gipotezasi tekshirilgan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830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7830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oy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2402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daromad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788920"/>
            <a:ext cx="31363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Pilotlarni pullikka o'tkazish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markazlari assotsiatsiyasi bilan hamkorlik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Referal: "markaz markazni olib keladi"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5074920"/>
            <a:ext cx="3227832" cy="868680"/>
          </a:xfrm>
          <a:prstGeom prst="roundRect">
            <a:avLst>
              <a:gd name="adj" fmla="val 8421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50749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pullik mijoz, 2 000+ o'quvchi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17830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17830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oy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2402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Masshtabga tayyorlik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788920"/>
            <a:ext cx="31363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 B2G pilot (ADB / IsDB loyihalari)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eMaktab bilan integratsiya muzokarasi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Fizika va kimyo uchun masalalar banki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5074920"/>
            <a:ext cx="3227832" cy="868680"/>
          </a:xfrm>
          <a:prstGeom prst="roundRect">
            <a:avLst>
              <a:gd name="adj" fmla="val 8421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507492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pullik mijoz, pre-seed raund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MOLIYALASHTIRISH YO'LI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va imtiyozlar → pilot → investitsiya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75688" cy="329184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385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2052645"/>
            <a:ext cx="247254" cy="24725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7568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603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5468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Mukofot, e'tibor, birinchi pilot hamkorlari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51760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07208" y="1737360"/>
            <a:ext cx="2075688" cy="329184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08376" y="19385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493" y="2052645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34256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008376" y="25603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Park + PQ-59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008376" y="315468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vaucheri (50%, ≤ $50k), konvertatsiyalanadigan qarz ≤ $20k, soliq imtiyozlari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10328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65776" y="1737360"/>
            <a:ext cx="2075688" cy="329184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66944" y="19385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EF0F9"/>
          </a:solidFill>
          <a:ln w="9525">
            <a:solidFill>
              <a:srgbClr val="DADFF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061" y="2052645"/>
            <a:ext cx="247254" cy="247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9282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266944" y="25603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/ pre-seed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266944" y="315468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haftalik pilot natijasi bilan $50–150k (EduBaza $50k, Learnify $100k — bozor ko'rsatkichi)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168896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24344" y="1737360"/>
            <a:ext cx="2075688" cy="329184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25512" y="19385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629" y="2052645"/>
            <a:ext cx="247254" cy="24725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51392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525512" y="25603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loyihalari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525512" y="315468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 "STEM in Secondary Education" (200 maktab), IsDB/GPE SmartEd (baholash komponenti)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9427464" y="3291840"/>
            <a:ext cx="128016" cy="182880"/>
          </a:xfrm>
          <a:prstGeom prst="rightArrow">
            <a:avLst/>
          </a:prstGeom>
          <a:solidFill>
            <a:srgbClr val="97A5AB"/>
          </a:solidFill>
          <a:ln w="12700">
            <a:solidFill>
              <a:srgbClr val="97A5A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582912" y="1737360"/>
            <a:ext cx="2075688" cy="3291840"/>
          </a:xfrm>
          <a:prstGeom prst="roundRect">
            <a:avLst>
              <a:gd name="adj" fmla="val 4405"/>
            </a:avLst>
          </a:prstGeom>
          <a:solidFill>
            <a:srgbClr val="FFFFFF"/>
          </a:solidFill>
          <a:ln w="9525">
            <a:solidFill>
              <a:srgbClr val="E2E9E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784080" y="19385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BF5E3"/>
          </a:solidFill>
          <a:ln w="9525">
            <a:solidFill>
              <a:srgbClr val="F6E8B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8197" y="2052645"/>
            <a:ext cx="247254" cy="24725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10996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9784080" y="2560320"/>
            <a:ext cx="1709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+ Markaziy Osiyo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784080" y="3154680"/>
            <a:ext cx="1709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Qozog'iston, Qirg'iziston; rus tilidagi sinflar; boshqa aniq fanlar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barqaror: B2B obuna har oy takrorlanadi, AI xarajati tushumning ~3,5% i, o'quv yili davomida mijoz almashmaydi. Grantlar — tezlashtirish uchun, omon qolish uchun emas.</a:t>
            </a:r>
            <a:endParaRPr lang="en-US" sz="135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VALIDATSIYA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Gipotezalar va ularni qanday tekshiramiz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959352"/>
                <a:gridCol w="31089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Gipoteza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Tekshiruv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6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Muvaffaqiyat mezoni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O'qituvchilar e'tibor xotirasi va bosqichli diagnostikani qadrlaydi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ta intervyu +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 "juda foydali"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Skaner real sinf sharoitida ishonchli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300+ chop etilgan chiziq, turli ruchka va yorug'lik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Pufakcha ≥ 99%, son panjarasi ≥ 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Tashxis o'qituvchi fikriga 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o'quvchi: tizim va o'qituvchi xulosasi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moslik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O'quv markazlari to'laydi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markaz bilan niyat xati, 4 haftalik bepul 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 pullik mijoz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O'quvchilar tezroq o'sadi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hafta: tajriba va nazorat sinflari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Nazoratdan ≥ 10% yuqori o'sish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EAF6F6"/>
          </a:solidFill>
          <a:ln w="9525">
            <a:solidFill>
              <a:srgbClr val="A9D9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Mentordan so'rovimiz: 2–3 ta o'quv markazi yoki xususiy maktab bilan pilot uchun tanishtirish.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DarsPilot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82712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7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  ·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DarsPilot — CP1, biznes mentor</dc:title>
  <dc:subject>PptxGenJS Presentation</dc:subject>
  <dc:creator>PptxGenJS</dc:creator>
  <cp:lastModifiedBy>PptxGenJS</cp:lastModifiedBy>
  <cp:revision>1</cp:revision>
  <dcterms:created xsi:type="dcterms:W3CDTF">2026-09-17T16:52:00Z</dcterms:created>
  <dcterms:modified xsi:type="dcterms:W3CDTF">2026-09-17T16:52:00Z</dcterms:modified>
</cp:coreProperties>
</file>